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lZscS6zkVEGq1xcfBVgzTQwUq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7C54E9-52DE-436F-AA2A-213115268962}">
  <a:tblStyle styleId="{A27C54E9-52DE-436F-AA2A-2131152689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fill>
          <a:solidFill>
            <a:srgbClr val="D1D1D1"/>
          </a:solidFill>
        </a:fill>
      </a:tcStyle>
    </a:band1H>
    <a:band2H>
      <a:tcTxStyle/>
    </a:band2H>
    <a:band1V>
      <a:tcTxStyle/>
      <a:tcStyle>
        <a:fill>
          <a:solidFill>
            <a:srgbClr val="D1D1D1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9"/>
          <p:cNvSpPr txBox="1"/>
          <p:nvPr>
            <p:ph type="ctrTitle"/>
          </p:nvPr>
        </p:nvSpPr>
        <p:spPr>
          <a:xfrm>
            <a:off x="2063751" y="1701800"/>
            <a:ext cx="9211733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subTitle"/>
          </p:nvPr>
        </p:nvSpPr>
        <p:spPr>
          <a:xfrm>
            <a:off x="2063751" y="2927350"/>
            <a:ext cx="9218083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609600" y="1174750"/>
            <a:ext cx="5384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2" type="body"/>
          </p:nvPr>
        </p:nvSpPr>
        <p:spPr>
          <a:xfrm>
            <a:off x="6197600" y="1174750"/>
            <a:ext cx="5384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/>
          <p:nvPr>
            <p:ph type="title"/>
          </p:nvPr>
        </p:nvSpPr>
        <p:spPr>
          <a:xfrm>
            <a:off x="840317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840317" y="1681163"/>
            <a:ext cx="515831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3"/>
          <p:cNvSpPr txBox="1"/>
          <p:nvPr>
            <p:ph idx="2" type="body"/>
          </p:nvPr>
        </p:nvSpPr>
        <p:spPr>
          <a:xfrm>
            <a:off x="840317" y="2505075"/>
            <a:ext cx="515831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3" type="body"/>
          </p:nvPr>
        </p:nvSpPr>
        <p:spPr>
          <a:xfrm>
            <a:off x="6172200" y="1681163"/>
            <a:ext cx="518371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4" type="body"/>
          </p:nvPr>
        </p:nvSpPr>
        <p:spPr>
          <a:xfrm>
            <a:off x="6172200" y="2505075"/>
            <a:ext cx="518371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4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/>
          <p:nvPr>
            <p:ph type="title"/>
          </p:nvPr>
        </p:nvSpPr>
        <p:spPr>
          <a:xfrm>
            <a:off x="840317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" type="body"/>
          </p:nvPr>
        </p:nvSpPr>
        <p:spPr>
          <a:xfrm>
            <a:off x="5183717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46"/>
          <p:cNvSpPr txBox="1"/>
          <p:nvPr>
            <p:ph idx="2" type="body"/>
          </p:nvPr>
        </p:nvSpPr>
        <p:spPr>
          <a:xfrm>
            <a:off x="840317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4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7"/>
          <p:cNvSpPr txBox="1"/>
          <p:nvPr>
            <p:ph type="title"/>
          </p:nvPr>
        </p:nvSpPr>
        <p:spPr>
          <a:xfrm>
            <a:off x="840317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/>
          <p:nvPr>
            <p:ph idx="2" type="pic"/>
          </p:nvPr>
        </p:nvSpPr>
        <p:spPr>
          <a:xfrm>
            <a:off x="5183717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7"/>
          <p:cNvSpPr txBox="1"/>
          <p:nvPr>
            <p:ph idx="1" type="body"/>
          </p:nvPr>
        </p:nvSpPr>
        <p:spPr>
          <a:xfrm>
            <a:off x="840317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4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8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" type="body"/>
          </p:nvPr>
        </p:nvSpPr>
        <p:spPr>
          <a:xfrm rot="5400000">
            <a:off x="3619500" y="-1835150"/>
            <a:ext cx="49530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9"/>
          <p:cNvSpPr txBox="1"/>
          <p:nvPr>
            <p:ph type="title"/>
          </p:nvPr>
        </p:nvSpPr>
        <p:spPr>
          <a:xfrm rot="5400000">
            <a:off x="7242175" y="1787525"/>
            <a:ext cx="593725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" type="body"/>
          </p:nvPr>
        </p:nvSpPr>
        <p:spPr>
          <a:xfrm rot="5400000">
            <a:off x="1654175" y="-854075"/>
            <a:ext cx="5937250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8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3.bin"/><Relationship Id="rId5" Type="http://schemas.openxmlformats.org/officeDocument/2006/relationships/oleObject" Target="../embeddings/oleObject3.bin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2063751" y="1701800"/>
            <a:ext cx="9211733" cy="1082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5D5D5"/>
                </a:solidFill>
              </a:rPr>
              <a:t>SCSJ 3483: Web Technology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2063751" y="2927350"/>
            <a:ext cx="9218083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Asynchronous JavaScript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99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Synchronous Execution in JavaScript:</a:t>
            </a:r>
            <a:endParaRPr b="1"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358900"/>
            <a:ext cx="10515600" cy="4818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JavaScript default/typical behavior :- code executes line by line.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Each line of code waits for the previous one to finish before proceeding.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Referred as "blocking" because subsequent processes held up, until the current one completes.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Can lead to a predictable but potentially slow,unresponsive program, esp with tasks like file I/O, network requests, or heavy computations.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Delays in one operation can cause bottlenecks, affecting the overall performance of the application.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Commonly experienced in scenarios where tasks must be executed sequentially without concurrency.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Important to consider asynchronous programming techniques to handle time-sensitive tasks and improve the responsiveness of web applications.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 vs Multi-thread, Blocking vs Non-blocking</a:t>
            </a:r>
            <a:endParaRPr/>
          </a:p>
        </p:txBody>
      </p:sp>
      <p:graphicFrame>
        <p:nvGraphicFramePr>
          <p:cNvPr id="99" name="Google Shape;99;p3"/>
          <p:cNvGraphicFramePr/>
          <p:nvPr/>
        </p:nvGraphicFramePr>
        <p:xfrm>
          <a:off x="1643693" y="1174750"/>
          <a:ext cx="8904614" cy="4953000"/>
        </p:xfrm>
        <a:graphic>
          <a:graphicData uri="http://schemas.openxmlformats.org/presentationml/2006/ole">
            <mc:AlternateContent>
              <mc:Choice Requires="v">
                <p:oleObj r:id="rId4" imgH="4953000" imgW="8904614" progId="Paint.Picture" spid="_x0000_s1">
                  <p:embed/>
                </p:oleObj>
              </mc:Choice>
              <mc:Fallback>
                <p:oleObj r:id="rId5" imgH="4953000" imgW="8904614" progId="Paint.Picture">
                  <p:embed/>
                  <p:pic>
                    <p:nvPicPr>
                      <p:cNvPr id="99" name="Google Shape;99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43693" y="1174750"/>
                        <a:ext cx="8904614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Google Shape;100;p3"/>
          <p:cNvGraphicFramePr/>
          <p:nvPr/>
        </p:nvGraphicFramePr>
        <p:xfrm>
          <a:off x="1219835" y="716915"/>
          <a:ext cx="9751695" cy="5424170"/>
        </p:xfrm>
        <a:graphic>
          <a:graphicData uri="http://schemas.openxmlformats.org/presentationml/2006/ole">
            <mc:AlternateContent>
              <mc:Choice Requires="v">
                <p:oleObj r:id="rId7" imgH="5424170" imgW="9751695" progId="Paint.Picture" spid="_x0000_s2">
                  <p:embed/>
                </p:oleObj>
              </mc:Choice>
              <mc:Fallback>
                <p:oleObj r:id="rId8" imgH="5424170" imgW="9751695" progId="Paint.Picture">
                  <p:embed/>
                  <p:pic>
                    <p:nvPicPr>
                      <p:cNvPr id="100" name="Google Shape;100;p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219835" y="716915"/>
                        <a:ext cx="9751695" cy="5424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Sync vs Async(single thread) vs Async (multi-thread)</a:t>
            </a:r>
            <a:endParaRPr/>
          </a:p>
        </p:txBody>
      </p:sp>
      <p:graphicFrame>
        <p:nvGraphicFramePr>
          <p:cNvPr id="106" name="Google Shape;106;p4"/>
          <p:cNvGraphicFramePr/>
          <p:nvPr/>
        </p:nvGraphicFramePr>
        <p:xfrm>
          <a:off x="1048385" y="1174750"/>
          <a:ext cx="9344660" cy="5683250"/>
        </p:xfrm>
        <a:graphic>
          <a:graphicData uri="http://schemas.openxmlformats.org/presentationml/2006/ole">
            <mc:AlternateContent>
              <mc:Choice Requires="v">
                <p:oleObj r:id="rId4" imgH="5683250" imgW="9344660" progId="Paint.Picture" spid="_x0000_s1">
                  <p:embed/>
                </p:oleObj>
              </mc:Choice>
              <mc:Fallback>
                <p:oleObj r:id="rId5" imgH="5683250" imgW="9344660" progId="Paint.Picture">
                  <p:embed/>
                  <p:pic>
                    <p:nvPicPr>
                      <p:cNvPr id="106" name="Google Shape;106;p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48385" y="1174750"/>
                        <a:ext cx="9344660" cy="568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Asynchronous + Single Thread = Concurrent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Asynchronous + Multi Thread = Parallel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Arial"/>
              <a:buNone/>
            </a:pPr>
            <a:r>
              <a:rPr b="1" lang="en-US">
                <a:solidFill>
                  <a:srgbClr val="FF0000"/>
                </a:solidFill>
              </a:rPr>
              <a:t>Javascript ===  single threaded, non-blocking, asynchronous, and concurrent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609600" y="190500"/>
            <a:ext cx="10972800" cy="83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=is=  single threaded, non-blocking, asynchronous, and concurrent</a:t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4390" y="1258570"/>
            <a:ext cx="7696835" cy="4831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798830" y="6090285"/>
            <a:ext cx="11266805" cy="6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https://theflyingmantis.medium.com/javascript-single-threaded-non-blocking-asynchronous-concurrent-language-ffae97c57bef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Asynchronous Programming in JavaScript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838200" y="1080770"/>
            <a:ext cx="10842625" cy="5096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Although by default processes in JavaScript are executed synchronously, we can make them async (ie using XHR, AJAX, Fetch, Promise, Async/Await etc...)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Async allow JavaScript to continue executing without waiting for tasks to finish.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Async are non-blocking, enabling concurrency and responsiveness.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Useful for tasks ie network requests, file I/O operations, database queries etc...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Implemented using techniques like callbacks, promises, or async/await.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Crucial for building responsive and scalable web applications.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Mastery empowers developers to create efficient and user-friendly applications.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Synchronous 	vs 		Asynchronous</a:t>
            </a:r>
            <a:endParaRPr/>
          </a:p>
        </p:txBody>
      </p:sp>
      <p:pic>
        <p:nvPicPr>
          <p:cNvPr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110" y="1894840"/>
            <a:ext cx="2654935" cy="367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80" y="1895475"/>
            <a:ext cx="397891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Async Options: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using XmlHttpRequest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using jQuery AJAX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using Promise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using Fetch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using Async/Await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axios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AutoNum type="arabicPeriod"/>
            </a:pPr>
            <a:r>
              <a:rPr lang="en-US"/>
              <a:t>etc...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Using XmlHttpRequest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Oldest. Introduced around late 1990s by Microsoft (Internet Explorer 5) as a proprietary feature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 built-in JavaScript class that provides easy way to make HTTP requests to/receive data from web servers 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Allow JavaScript to make HTTP requests asynchronously, enabling dynamic updates to web pages without reloading the entire page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Cross-Browser Compatibility: supported by all major web browsers, making it a reliable and widely compatible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More complex and verbose compared to newer alternatives like Promise, Fetch &amp; Async/Await</a:t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Example: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838200" y="1075055"/>
            <a:ext cx="10515600" cy="5178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function cubaXhr() {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console.log("implementasi guna xhr");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const xhr = new XMLHttpRequest();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xhr.open("get", "https://jsonplaceholder.typicode.com/users___e", true);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xhr.onload = function () {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if (xhr.status &gt;= 200 &amp;&amp; xhr.status &lt; 300) {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const data = xhr.responseText;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const json_data = JSON.parse(data);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console.table(json_data);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} else {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console.info("Request failed with status: " + xhr.status);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}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};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xhr.onerror = function () {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console.log('XHR request encountered an error' + xhr.status);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};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xhr.send();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// Call the function</a:t>
            </a:r>
            <a:endParaRPr sz="2000"/>
          </a:p>
          <a:p>
            <a:pPr indent="457200" lvl="0" marL="0" rtl="0" algn="l">
              <a:lnSpc>
                <a:spcPct val="6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cubaXhr();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609600" y="73914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XmlHttpRequest : Common Methods, Properties </a:t>
            </a:r>
            <a:br>
              <a:rPr lang="en-US"/>
            </a:br>
            <a:r>
              <a:rPr lang="en-US"/>
              <a:t>&amp; Event Handlers</a:t>
            </a:r>
            <a:endParaRPr/>
          </a:p>
        </p:txBody>
      </p:sp>
      <p:graphicFrame>
        <p:nvGraphicFramePr>
          <p:cNvPr id="156" name="Google Shape;156;p12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{A27C54E9-52DE-436F-AA2A-213115268962}</a:tableStyleId>
              </a:tblPr>
              <a:tblGrid>
                <a:gridCol w="3472825"/>
                <a:gridCol w="7042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Method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Description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open(method, url)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Initializes the request with the specified HTTP method and URL.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send()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Sends the request to the server. Optionally includes a request body for methods like POST or PUT.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setRequestHeader()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Sets the value of an HTTP request header before sending the request.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609600" y="8001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XmlHttpRequest : Common Methods, Properties </a:t>
            </a:r>
            <a:br>
              <a:rPr lang="en-US"/>
            </a:br>
            <a:r>
              <a:rPr lang="en-US"/>
              <a:t>&amp; Event Handlers</a:t>
            </a:r>
            <a:endParaRPr/>
          </a:p>
        </p:txBody>
      </p:sp>
      <p:graphicFrame>
        <p:nvGraphicFramePr>
          <p:cNvPr id="162" name="Google Shape;162;p13"/>
          <p:cNvGraphicFramePr/>
          <p:nvPr/>
        </p:nvGraphicFramePr>
        <p:xfrm>
          <a:off x="838200" y="17195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{A27C54E9-52DE-436F-AA2A-213115268962}</a:tableStyleId>
              </a:tblPr>
              <a:tblGrid>
                <a:gridCol w="3472825"/>
                <a:gridCol w="7042775"/>
              </a:tblGrid>
              <a:tr h="57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Property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Description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103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status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Represents the HTTP status code of the response (e.g., 200 for OK, 404 for Not Found, etc.).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103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statusText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Represents the status message corresponding to the status code (e.g., "OK", "Not Found", etc.).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103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responseText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Contains the response data as a string. Useful for text-based responses (e.g., JSON, XML).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103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responseXML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Contains the response data as an XML document. Useful for XML-based responses.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609600" y="78486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XmlHttpRequest : Common Methods, Properties </a:t>
            </a:r>
            <a:br>
              <a:rPr lang="en-US"/>
            </a:br>
            <a:r>
              <a:rPr lang="en-US"/>
              <a:t>&amp; Event Handlers</a:t>
            </a:r>
            <a:endParaRPr/>
          </a:p>
        </p:txBody>
      </p:sp>
      <p:graphicFrame>
        <p:nvGraphicFramePr>
          <p:cNvPr id="168" name="Google Shape;168;p14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{A27C54E9-52DE-436F-AA2A-213115268962}</a:tableStyleId>
              </a:tblPr>
              <a:tblGrid>
                <a:gridCol w="3472825"/>
                <a:gridCol w="7042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Event Handler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Description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onload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Event handler triggered when the request completes successfully.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onerror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Event handler triggered when an error occurs during the request.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onreadystatechange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Event handler triggered whenever the readyState property changes.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List of XHR states and Description</a:t>
            </a:r>
            <a:endParaRPr/>
          </a:p>
        </p:txBody>
      </p:sp>
      <p:graphicFrame>
        <p:nvGraphicFramePr>
          <p:cNvPr id="174" name="Google Shape;174;p15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{A27C54E9-52DE-436F-AA2A-213115268962}</a:tableStyleId>
              </a:tblPr>
              <a:tblGrid>
                <a:gridCol w="3324850"/>
                <a:gridCol w="7190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State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Description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UNSENT (0)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The XHR object has been created, but open() method has not been called yet.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OPENED (1)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The XHR object has been created, and open() method has been called. The request is not sent yet.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HEADERS_RECEIVED (2)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The send() method has been called, and headers and status are available.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LOADING (3)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The response body is being received.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DONE (4)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The operation is complete.</a:t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t/>
                      </a:r>
                      <a:endParaRPr sz="2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 - readyState 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const xhr = new XMLHttpRequest();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console.log('Ready state:', xhr.readyState);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// Define the onreadystatechange event handler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xhr.onreadystatechange = function () {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console.log('Ready state:', xhr.readyState);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// Open the XHR request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xhr.open('GET', 'https://jsonplaceholder.typicode.com/posts/1');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// Send the XHR request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xhr.send();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console.log('code line terakhir: Ready state:', xhr.readyState);</a:t>
            </a:r>
            <a:endParaRPr sz="2000"/>
          </a:p>
        </p:txBody>
      </p:sp>
      <p:graphicFrame>
        <p:nvGraphicFramePr>
          <p:cNvPr id="181" name="Google Shape;181;p16"/>
          <p:cNvGraphicFramePr/>
          <p:nvPr/>
        </p:nvGraphicFramePr>
        <p:xfrm>
          <a:off x="7409815" y="1736090"/>
          <a:ext cx="4172585" cy="2679700"/>
        </p:xfrm>
        <a:graphic>
          <a:graphicData uri="http://schemas.openxmlformats.org/presentationml/2006/ole">
            <mc:AlternateContent>
              <mc:Choice Requires="v">
                <p:oleObj r:id="rId4" imgH="2679700" imgW="4172585" progId="Paint.Picture" spid="_x0000_s1">
                  <p:embed/>
                </p:oleObj>
              </mc:Choice>
              <mc:Fallback>
                <p:oleObj r:id="rId5" imgH="2679700" imgW="4172585" progId="Paint.Picture">
                  <p:embed/>
                  <p:pic>
                    <p:nvPicPr>
                      <p:cNvPr id="181" name="Google Shape;181;p1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409815" y="1736090"/>
                        <a:ext cx="4172585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Using jQuery AJAX</a:t>
            </a:r>
            <a:endParaRPr/>
          </a:p>
        </p:txBody>
      </p:sp>
      <p:sp>
        <p:nvSpPr>
          <p:cNvPr id="187" name="Google Shape;187;p17"/>
          <p:cNvSpPr txBox="1"/>
          <p:nvPr>
            <p:ph idx="1" type="body"/>
          </p:nvPr>
        </p:nvSpPr>
        <p:spPr>
          <a:xfrm>
            <a:off x="838200" y="1199515"/>
            <a:ext cx="10951210" cy="4977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jQuery AJAX has been part of the jQuery library since its early versions (jQuery introduced in 2006)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Methods in jQuery library to simplify async HTTP requests in JavaScript. 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Abstracts away complexities of XHR, provides simpler and consistent way for making Ajax requests and handle responses in a consistent manner across different browsers.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Widely used in web development for many years before newer native alternatives became available</a:t>
            </a:r>
            <a:endParaRPr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jQuery General Syntax: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838200" y="1451610"/>
            <a:ext cx="10938510" cy="4725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console.log("jQuery Start");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$.ajax({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url: 'https://api.example.com/data', // URL of the resource to request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method: 'GET',                        // HTTP method (GET, POST, PUT, DELETE, etc.)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dataType: 'json',                     // Expected data type of the response (json,xml,html, text etc)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success: function (data) {            // Success callback function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console.log('Success:', data);     // Log the response data to the console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},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error: function (xhr, status, error) { // Error callback function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console.error('Error:', error);    // Log an error message to the console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}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console.log("jQuery End");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Example: (Get all users from jsonplaceholder)</a:t>
            </a:r>
            <a:endParaRPr/>
          </a:p>
        </p:txBody>
      </p:sp>
      <p:sp>
        <p:nvSpPr>
          <p:cNvPr id="199" name="Google Shape;199;p19"/>
          <p:cNvSpPr txBox="1"/>
          <p:nvPr>
            <p:ph idx="1" type="body"/>
          </p:nvPr>
        </p:nvSpPr>
        <p:spPr>
          <a:xfrm>
            <a:off x="838200" y="1451610"/>
            <a:ext cx="10515600" cy="4725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console.info("guna jquery ajax");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$(document).ready(function () {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function cubaXhr() {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$.ajax({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url: 'https://jsonplaceholder.typicode.com/users',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method: 'GET',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dataType: 'json',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success: function (data) {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    console.table(data);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},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error: function (xhr, status, error) {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    console.error(`Request failed with status : ${xhr.status}`);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    }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    });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}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// Call the function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    cubaXhr();</a:t>
            </a:r>
            <a:endParaRPr sz="2000"/>
          </a:p>
          <a:p>
            <a:pPr indent="0" lvl="0" marL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});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838200" y="-1835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Important Options and Methods in jQuery Ajax:</a:t>
            </a:r>
            <a:endParaRPr/>
          </a:p>
        </p:txBody>
      </p:sp>
      <p:graphicFrame>
        <p:nvGraphicFramePr>
          <p:cNvPr id="205" name="Google Shape;205;p20"/>
          <p:cNvGraphicFramePr/>
          <p:nvPr/>
        </p:nvGraphicFramePr>
        <p:xfrm>
          <a:off x="838200" y="8248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{A27C54E9-52DE-436F-AA2A-213115268962}</a:tableStyleId>
              </a:tblPr>
              <a:tblGrid>
                <a:gridCol w="475625"/>
                <a:gridCol w="1776725"/>
                <a:gridCol w="8606150"/>
              </a:tblGrid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Option/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Method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Description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1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url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Specifies the URL to which the Ajax request should be sent.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2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method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Specifies the HTTP method to be used for the request (e.g., "GET", "POST", “PATCH”, "PUT", "DELETE").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60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3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data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Specifies the data to be sent to the server. It can be a query string or an object.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4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dataType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Specifies the expected data type of the response from the server (e.g., "json", "xml", "html", "text").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5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contentType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Specifies the Content-Type header of the request. It is used when sending data to the server.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86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7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success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A callback function to be executed if the request is successful. It receives the response data, status, and the jqXHR object as arguments.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  <a:tr h="862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8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error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A callback function to be executed if the request fails. It receives the jqXHR object, the status error message, and an optional exception object as arguments.</a:t>
                      </a:r>
                      <a:endParaRPr sz="2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838200" y="626110"/>
            <a:ext cx="10734040" cy="5551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1200"/>
              <a:t>// Code Example: jQuery AJAX, POST user to backend</a:t>
            </a:r>
            <a:endParaRPr b="1" sz="112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var userData = {name: "Johan Dolah", username: "johandolah", email: "jdolah@gmail.com"};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</a:t>
            </a:r>
            <a:endParaRPr sz="8400"/>
          </a:p>
          <a:p>
            <a:pPr indent="45720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// Send POST request to create a new user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$.ajax({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url: "https://jsonplaceholder.typicode.com/users",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method: "POST",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contentType: "application/json",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data: JSON.stringify(userData),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success: function(response) {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    console.log(`New user created: ${response} with generated id = ${response.id}`);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},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error: function(xhr, status, error) {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    console.error("Error creating user:", error);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}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});</a:t>
            </a:r>
            <a:endParaRPr sz="8400"/>
          </a:p>
          <a:p>
            <a:pPr indent="0" lvl="0" marL="0" rtl="0" algn="l">
              <a:lnSpc>
                <a:spcPct val="7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});</a:t>
            </a:r>
            <a:endParaRPr sz="8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838200" y="473075"/>
            <a:ext cx="10515600" cy="5942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45720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1200"/>
              <a:t>// Code Example: jQuery AJAX, PATCH user to backend</a:t>
            </a:r>
            <a:endParaRPr b="1" sz="112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var userBaru = {name: "Johana Baru",  email: "joh_bar@gmail.com"     };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// User ID to be updated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var userId = 1; // Example user ID bagi user Johan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// Send PATCH request to update the user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$.ajax({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url: "https://jsonplaceholder.typicode.com/users/" + userId,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method: "PATCH",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contentType: "application/json",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data: JSON.stringify(userBaru),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success: function(response) {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    console.info("User updated:", response);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},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error: function(xhr, status, error) {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    console.error("Error updating user:", error);</a:t>
            </a:r>
            <a:endParaRPr sz="8400"/>
          </a:p>
          <a:p>
            <a:pPr indent="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}     });      });   });</a:t>
            </a:r>
            <a:endParaRPr sz="8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>
            <p:ph idx="1" type="body"/>
          </p:nvPr>
        </p:nvSpPr>
        <p:spPr>
          <a:xfrm>
            <a:off x="838200" y="473075"/>
            <a:ext cx="10515600" cy="5942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/>
          </a:bodyPr>
          <a:lstStyle/>
          <a:p>
            <a:pPr indent="45720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1200"/>
              <a:t>// Code Example: jQuery AJAX, DELETE user di backend</a:t>
            </a:r>
            <a:endParaRPr b="1" sz="112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// User ID to be deleted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var userId = 1; 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// Send DELETE request to remove the user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$.ajax({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url: "https://jsonplaceholder.typicode.com/users/" + userId,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method: "DELETE",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success: function(response) {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    console.log("User deleted:", response);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},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error: function(xhr, status, error) {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    console.error("Error deleting user:", error);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    }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    });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    });</a:t>
            </a:r>
            <a:endParaRPr sz="8400"/>
          </a:p>
          <a:p>
            <a:pPr indent="457200" lvl="0" marL="0" rtl="0" algn="l">
              <a:lnSpc>
                <a:spcPct val="6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8400"/>
              <a:t>});;</a:t>
            </a:r>
            <a:endParaRPr sz="8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using Promise</a:t>
            </a:r>
            <a:endParaRPr/>
          </a:p>
        </p:txBody>
      </p:sp>
      <p:sp>
        <p:nvSpPr>
          <p:cNvPr id="226" name="Google Shape;226;p24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Introduced as part of the ECMAScript 6 (ES6) specification in 2015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Promise - is an object that represents the eventual completion or failure of an asynchronous operation, and its resulting value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It allows us to handle asynchronous operations more easily and elegantly compared to traditional callback-based approach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Gained popularity due to simplicity and improved error handling. 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Became preferred method for handling asynchronous code in modern JavaScript development.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promise : general syntax</a:t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609600" y="80899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const promise = new Promise(function(resolve, reject) {</a:t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    // Do some asynchronous operation</a:t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    // If the operation is successful, call resolve with the result</a:t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    // If an error occurs, call reject with an error object or message</a:t>
            </a:r>
            <a:endParaRPr i="1"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});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example:         </a:t>
            </a:r>
            <a:endParaRPr sz="1800"/>
          </a:p>
          <a:p>
            <a:pPr indent="45720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console.info("implementasi guna promise");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const promise = new Promise(function (resolve, reject) {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// Simulasikan async guna setTimeout. dlm real sit, buat request ke jsonplaceholder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setTimeout(function () {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const randomNumber = Math.random(); //generate 1 random number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if (randomNumber &gt; 0.5) { //jika nilainya &gt;0.5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    resolve(randomNumber); // Resolve the promise with the random number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    //dlm real situation, resolve dengan json data users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} else {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    reject(Error('Random number is less than 0.5')); // Create object from Reject 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    }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    }, 5000); // pause 5 saat sblum resolving or rejecting the promise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    });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Promise: State, Status and Transition</a:t>
            </a:r>
            <a:endParaRPr/>
          </a:p>
        </p:txBody>
      </p:sp>
      <p:graphicFrame>
        <p:nvGraphicFramePr>
          <p:cNvPr id="238" name="Google Shape;238;p26"/>
          <p:cNvGraphicFramePr/>
          <p:nvPr/>
        </p:nvGraphicFramePr>
        <p:xfrm>
          <a:off x="609600" y="1123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{A27C54E9-52DE-436F-AA2A-213115268962}</a:tableStyleId>
              </a:tblPr>
              <a:tblGrid>
                <a:gridCol w="2668275"/>
                <a:gridCol w="83045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highlight>
                            <a:srgbClr val="0000FF"/>
                          </a:highlight>
                        </a:rPr>
                        <a:t>State</a:t>
                      </a:r>
                      <a:endParaRPr sz="1800" u="none" cap="none" strike="noStrike">
                        <a:highlight>
                          <a:srgbClr val="0000FF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highlight>
                            <a:srgbClr val="0000FF"/>
                          </a:highlight>
                        </a:rPr>
                        <a:t>Description</a:t>
                      </a:r>
                      <a:endParaRPr sz="1800" u="none" cap="none" strike="noStrike">
                        <a:highlight>
                          <a:srgbClr val="0000FF"/>
                        </a:highlight>
                      </a:endParaRPr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Pending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The initial state of a promise, waiting for resolution.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Fulfilled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The promise has been successfully resolved with a value.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Rejected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The promise has been rejected due to an error or failure.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highlight>
                            <a:srgbClr val="0000FF"/>
                          </a:highlight>
                        </a:rPr>
                        <a:t>Status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highlight>
                          <a:srgbClr val="0000FF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highlight>
                            <a:srgbClr val="0000FF"/>
                          </a:highlight>
                        </a:rPr>
                        <a:t>Description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highlight>
                          <a:srgbClr val="0000FF"/>
                        </a:highlight>
                      </a:endParaRPr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Resolved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 general term referring to a promise that has been settled, either fulfilled or rejected.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Settled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Another term for a promise that has been resolved (either fulfilled or rejected). It's often used interchangeably.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highlight>
                            <a:srgbClr val="0000FF"/>
                          </a:highlight>
                        </a:rPr>
                        <a:t>Transition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highlight>
                          <a:srgbClr val="0000FF"/>
                        </a:highlight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highlight>
                            <a:srgbClr val="0000FF"/>
                          </a:highlight>
                        </a:rPr>
                        <a:t>Description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highlight>
                          <a:srgbClr val="0000FF"/>
                        </a:highlight>
                      </a:endParaRPr>
                    </a:p>
                  </a:txBody>
                  <a:tcPr marT="45725" marB="45725" marR="91450" marL="91450"/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Pending → Fulfilled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Transition occurs when the operation represented by the promise is successfully completed, and the promise is fulfilled with a value.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931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Pending → Rejected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Transition occurs when the operation represented by the promise encounters an error or is unsuccessful, and the promise is rejected with a reason.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Using Fetch</a:t>
            </a:r>
            <a:endParaRPr/>
          </a:p>
        </p:txBody>
      </p:sp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838200" y="774065"/>
            <a:ext cx="10951210" cy="5403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Introduced as part of the ECMAScript 6 (ES6) specification alongside Promises in 2015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Alternative to XHR for making HTTP requests.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Simplified the process of making asynchronous requests by returning Promises, making it easier to handle responses and errors. It gradually replaced XHR in many web applications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Several important methods and properties associated with the fetch():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4. 1. fetch(url, options): </a:t>
            </a:r>
            <a:r>
              <a:rPr lang="en-US" sz="2400"/>
              <a:t>Initiates a request to the specified URL with optional settings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Example: </a:t>
            </a:r>
            <a:endParaRPr sz="2400"/>
          </a:p>
          <a:p>
            <a:pPr indent="0" lvl="2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fetch("https://api.example.com/data", {</a:t>
            </a:r>
            <a:endParaRPr sz="1800"/>
          </a:p>
          <a:p>
            <a:pPr indent="0" lvl="2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method: "GET",</a:t>
            </a:r>
            <a:endParaRPr sz="1800"/>
          </a:p>
          <a:p>
            <a:pPr indent="0" lvl="2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headers: {</a:t>
            </a:r>
            <a:endParaRPr sz="1800"/>
          </a:p>
          <a:p>
            <a:pPr indent="0" lvl="2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  "Content-Type": "application/json"</a:t>
            </a:r>
            <a:endParaRPr sz="1800"/>
          </a:p>
          <a:p>
            <a:pPr indent="0" lvl="2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/>
              <a:t>  } });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Fetch (cont...)</a:t>
            </a:r>
            <a:endParaRPr/>
          </a:p>
        </p:txBody>
      </p:sp>
      <p:sp>
        <p:nvSpPr>
          <p:cNvPr id="250" name="Google Shape;250;p28"/>
          <p:cNvSpPr txBox="1"/>
          <p:nvPr>
            <p:ph idx="1" type="body"/>
          </p:nvPr>
        </p:nvSpPr>
        <p:spPr>
          <a:xfrm>
            <a:off x="838200" y="1190625"/>
            <a:ext cx="10951210" cy="49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/>
              <a:t>3.2 Response:</a:t>
            </a:r>
            <a:r>
              <a:rPr lang="en-US" sz="2400"/>
              <a:t> Represents the response to an HTTP request. It provides several methods and properties to access the response data and metadata</a:t>
            </a:r>
            <a:endParaRPr sz="2400"/>
          </a:p>
          <a:p>
            <a:pPr indent="0" lvl="1" marL="4572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b="1" sz="2200"/>
          </a:p>
          <a:p>
            <a:pPr indent="0" lvl="1" marL="4572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/>
              <a:t>response.json(): </a:t>
            </a:r>
            <a:r>
              <a:rPr lang="en-US" sz="2200"/>
              <a:t>Parses the response body as JSON and returns a promise containing the parsed data.</a:t>
            </a:r>
            <a:endParaRPr sz="2200"/>
          </a:p>
          <a:p>
            <a:pPr indent="0" lvl="1" marL="4572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/>
              <a:t>response.text(): </a:t>
            </a:r>
            <a:r>
              <a:rPr lang="en-US" sz="2200"/>
              <a:t>Reads the response body as text and returns a promise containing the text data.</a:t>
            </a:r>
            <a:endParaRPr sz="2200"/>
          </a:p>
          <a:p>
            <a:pPr indent="0" lvl="1" marL="4572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/>
              <a:t>response.status: </a:t>
            </a:r>
            <a:r>
              <a:rPr lang="en-US" sz="2200"/>
              <a:t>Returns the status code of the response (e.g., 200 for OK, 404 for Not Found).</a:t>
            </a:r>
            <a:endParaRPr sz="2200"/>
          </a:p>
          <a:p>
            <a:pPr indent="0" lvl="1" marL="4572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/>
              <a:t>response.ok: </a:t>
            </a:r>
            <a:r>
              <a:rPr lang="en-US" sz="2200"/>
              <a:t>Returns a boolean indicating whether the response was successful (status code in the range 200-299).</a:t>
            </a:r>
            <a:endParaRPr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Fetch (cont...)</a:t>
            </a:r>
            <a:endParaRPr/>
          </a:p>
        </p:txBody>
      </p:sp>
      <p:sp>
        <p:nvSpPr>
          <p:cNvPr id="256" name="Google Shape;256;p29"/>
          <p:cNvSpPr txBox="1"/>
          <p:nvPr>
            <p:ph idx="1" type="body"/>
          </p:nvPr>
        </p:nvSpPr>
        <p:spPr>
          <a:xfrm>
            <a:off x="838200" y="1190625"/>
            <a:ext cx="10951210" cy="4986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2400"/>
              <a:t>3.3 Request: </a:t>
            </a:r>
            <a:r>
              <a:rPr lang="en-US" sz="2400"/>
              <a:t>Represents an HTTP request. It allows you to customize the request method, headers, body, and other options.</a:t>
            </a:r>
            <a:endParaRPr b="1" sz="2400"/>
          </a:p>
          <a:p>
            <a:pPr indent="0" lvl="1" marL="45720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/>
              <a:t>Example: </a:t>
            </a:r>
            <a:endParaRPr b="1" sz="22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const request = new Request("https://api.example.com/data", {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method: "POST",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headers: {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"Content-Type": "application/json"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},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body: JSON.stringify({ key: "value" })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});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fetch(request)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.then(response =&gt; response.json())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.then(data =&gt; console.log(data))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.catch(error =&gt; console.error(error));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Fetch </a:t>
            </a:r>
            <a:endParaRPr/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374650" y="952500"/>
            <a:ext cx="4553585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/>
              <a:t>General Syntax:</a:t>
            </a:r>
            <a:endParaRPr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fetch(url, config)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.then(response =&gt; {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// Handle the response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})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.catch(error =&gt; {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    // Handle any errors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});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Example:</a:t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1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263" name="Google Shape;263;p30"/>
          <p:cNvSpPr/>
          <p:nvPr/>
        </p:nvSpPr>
        <p:spPr>
          <a:xfrm>
            <a:off x="4096385" y="321310"/>
            <a:ext cx="8095615" cy="6111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Fetch users from JSONPlaceholder API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fetch( 'https://jsonplaceholder.typicode.com/users')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.then(response =&gt;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 (!response.ok)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throw new Error('Failed to fetch users');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return response.json(); // Parse the response body as JSON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.then(users =&gt;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console.log('Users:', users); // Log the fetched users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.catch(error =&gt; {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console.error('Error:', error); // Log any errors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});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Another example</a:t>
            </a:r>
            <a:endParaRPr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609600" y="772795"/>
            <a:ext cx="10972800" cy="5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function cubaFetchPost()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// Define user data as a JavaScript object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console.info('cuba fetch post new user')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const user =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name: 'Siti Aminah,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email: siam@gmail.com'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};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// Fetch data from JSONPlaceholder API using specified options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fetch('https://jsonplaceholder.typicode.com/users',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method: 'POST', // HTTP method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headers: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'Content-Type': 'application/json' // Specify content type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},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body: JSON.stringify(user) // Request body (for POST requests)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})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.then(response =&gt;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if (!response.ok)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    console.log('errer: '+response.status)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    throw new Error('Failed to fetch data');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}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console.log('status: '+response.status)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return response.json(); // Parse the response body as JSON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})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.then(data =&gt;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console.log('Data:', data); // Log the fetched data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})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.catch(error =&gt; {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    console.error('Error:', error); // Log any errors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        });</a:t>
            </a:r>
            <a:endParaRPr sz="1600"/>
          </a:p>
          <a:p>
            <a:pPr indent="0" lvl="0" marL="0" rtl="0" algn="l">
              <a:lnSpc>
                <a:spcPct val="6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        };</a:t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Using Async/Await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Introduced as part of the ECMAScript 2017 (ES8) specification.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Built upon Promises to provide a more readable and synchronous-like way to write asynchronous code.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Async/await quickly became popular due to its ability to make asynchronous code look and behave more like synchronous code.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Simplified error handling and made complex asynchronous operations easier to understand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modern JavaScript feature that allows you to work with asynchronous code in a more synchronous and readable manner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provides a syntactic sugar on top of Promises, making asynchronous code easier to write and understand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x.1. Async Function</a:t>
            </a:r>
            <a:endParaRPr/>
          </a:p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function that operates asynchronously via the event loop, allowing non-blocking behavior.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It is defined using the async keyword before the function declaration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example: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async function fetchData() {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    // Asynchronous operations here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x.2. Await Keyword:</a:t>
            </a:r>
            <a:endParaRPr/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await keyword is used inside an async function to pause the execution of the function until a Promise is resolved, effectively waiting for the asynchronous operation to complete.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It can only be used within async functions.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example: 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async function fetchData() {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    const result = await someAsyncOperation();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    // Code here will wait until someAsyncOperation completes</a:t>
            </a:r>
            <a:endParaRPr/>
          </a:p>
          <a:p>
            <a:pPr indent="0" lvl="1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x.3. Error Handling:</a:t>
            </a:r>
            <a:endParaRPr/>
          </a:p>
        </p:txBody>
      </p:sp>
      <p:sp>
        <p:nvSpPr>
          <p:cNvPr id="293" name="Google Shape;293;p35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Errors in async functions can be handled using try...catch blocks, similar to synchronous code.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example: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async function fetchData() {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try {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    const result = await someAsyncOperation();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    // Code here will wait until someAsyncOperation completes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} catch (error) {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    console.error('Error:', error);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  }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}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x.4. Returning Values:</a:t>
            </a:r>
            <a:endParaRPr/>
          </a:p>
        </p:txBody>
      </p:sp>
      <p:sp>
        <p:nvSpPr>
          <p:cNvPr id="299" name="Google Shape;299;p36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Async functions can return Promises. If a value is returned from an async function, it is automatically wrapped in a resolved Promise.</a:t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example: </a:t>
            </a:r>
            <a:endParaRPr sz="28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async function fetchData() {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const result = await someAsyncOperation();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return result;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// Usage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fetchData().then(data =&gt; {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console.log('Data:', data);</a:t>
            </a:r>
            <a:endParaRPr sz="2000"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});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/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</a:t>
            </a:r>
            <a:endParaRPr/>
          </a:p>
        </p:txBody>
      </p:sp>
      <p:sp>
        <p:nvSpPr>
          <p:cNvPr id="305" name="Google Shape;305;p37"/>
          <p:cNvSpPr txBox="1"/>
          <p:nvPr>
            <p:ph idx="1" type="body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// Async/Await example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console.log("Start");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async </a:t>
            </a:r>
            <a:r>
              <a:rPr lang="en-US" sz="2000"/>
              <a:t>function asyncExample() {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try {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const data = </a:t>
            </a:r>
            <a:r>
              <a:rPr b="1" lang="en-US" sz="2000"/>
              <a:t>await </a:t>
            </a:r>
            <a:r>
              <a:rPr lang="en-US" sz="2000"/>
              <a:t>fetch("https://jsonplaceholder.typicode.com/users");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const jsonData = </a:t>
            </a:r>
            <a:r>
              <a:rPr b="1" lang="en-US" sz="2000"/>
              <a:t>await </a:t>
            </a:r>
            <a:r>
              <a:rPr lang="en-US" sz="2000"/>
              <a:t>data.json();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console.log("Async/Await data:", data);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console.log("json data:", jsonData);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} catch (error) {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  console.error("Async/Await error:", error);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  }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}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asyncExample();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console.log("End");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2024-04-07T02:28:00Z</dcterms:created>
  <dc:creator>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937F2BA19E9040CBAE1FD183F06F774F_13</vt:lpwstr>
  </property>
  <property fmtid="{D5CDD505-2E9C-101B-9397-08002B2CF9AE}" pid="3" name="KSOProductBuildVer">
    <vt:lpwstr>1033-12.2.0.16731</vt:lpwstr>
  </property>
</Properties>
</file>