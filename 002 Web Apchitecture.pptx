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72" r:id="rId6"/>
    <p:sldId id="258" r:id="rId7"/>
    <p:sldId id="259" r:id="rId8"/>
    <p:sldId id="260" r:id="rId9"/>
    <p:sldId id="262" r:id="rId10"/>
    <p:sldId id="269" r:id="rId11"/>
    <p:sldId id="263" r:id="rId12"/>
    <p:sldId id="268" r:id="rId13"/>
    <p:sldId id="270" r:id="rId14"/>
    <p:sldId id="264" r:id="rId15"/>
    <p:sldId id="265" r:id="rId16"/>
    <p:sldId id="266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B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991360"/>
            <a:ext cx="6200775" cy="48666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0" name="Rectangle 2"/>
          <p:cNvSpPr>
            <a:spLocks noGrp="1"/>
          </p:cNvSpPr>
          <p:nvPr/>
        </p:nvSpPr>
        <p:spPr>
          <a:xfrm>
            <a:off x="3718560" y="746760"/>
            <a:ext cx="7772400" cy="14319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</a:pPr>
            <a:r>
              <a:rPr lang="en-MY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Web Technology S</a:t>
            </a:r>
            <a:r>
              <a:rPr lang="en-US" altLang="en-MY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EC</a:t>
            </a:r>
            <a:r>
              <a:rPr lang="en-MY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 3483</a:t>
            </a:r>
            <a:endParaRPr lang="en-MY" alt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Subtitle 5"/>
          <p:cNvSpPr>
            <a:spLocks noGrp="1"/>
          </p:cNvSpPr>
          <p:nvPr/>
        </p:nvSpPr>
        <p:spPr>
          <a:xfrm>
            <a:off x="4580573" y="2150110"/>
            <a:ext cx="6913562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>
                <a:sym typeface="+mn-ea"/>
              </a:rPr>
              <a:t>Topic 2 : Web </a:t>
            </a:r>
            <a:r>
              <a:rPr lang="en-US" dirty="0">
                <a:sym typeface="+mn-ea"/>
              </a:rPr>
              <a:t>Architecture</a:t>
            </a:r>
            <a:endParaRPr kumimoji="0" lang="en-MY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865"/>
          </a:xfrm>
        </p:spPr>
        <p:txBody>
          <a:bodyPr>
            <a:normAutofit/>
          </a:bodyPr>
          <a:p>
            <a:r>
              <a:rPr lang="en-US" b="1">
                <a:sym typeface="+mn-ea"/>
              </a:rPr>
              <a:t>Web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7335"/>
            <a:ext cx="10515600" cy="5005705"/>
          </a:xfrm>
        </p:spPr>
        <p:txBody>
          <a:bodyPr/>
          <a:p>
            <a:pPr marL="0" indent="0">
              <a:buNone/>
            </a:pPr>
            <a:r>
              <a:rPr lang="en-US" b="1"/>
              <a:t>Web architecture</a:t>
            </a:r>
            <a:r>
              <a:rPr lang="en-US"/>
              <a:t> - refers to the structural design of web applications, including both front-end and back-end components, as well as the communication protocols and technologies used to connect them.</a:t>
            </a:r>
            <a:endParaRPr lang="en-US"/>
          </a:p>
          <a:p>
            <a:pPr marL="0" indent="0">
              <a:buNone/>
            </a:pPr>
            <a:r>
              <a:rPr lang="en-US" b="1">
                <a:sym typeface="+mn-ea"/>
              </a:rPr>
              <a:t>Structural design of web applications - a break down</a:t>
            </a:r>
            <a:endParaRPr lang="en-US" b="1"/>
          </a:p>
          <a:p>
            <a:pPr marL="514350" indent="-514350">
              <a:buAutoNum type="arabicPeriod"/>
            </a:pPr>
            <a:r>
              <a:rPr lang="en-US"/>
              <a:t>Front-End Components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Back-End Components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Communication Protocols and related Technologies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1" name="Content Placeholder 100"/>
          <p:cNvPicPr>
            <a:picLocks noChangeAspect="1"/>
          </p:cNvPicPr>
          <p:nvPr>
            <p:ph idx="1"/>
          </p:nvPr>
        </p:nvPicPr>
        <p:blipFill>
          <a:blip r:embed="rId1"/>
          <a:srcRect t="16741"/>
          <a:stretch>
            <a:fillRect/>
          </a:stretch>
        </p:blipFill>
        <p:spPr>
          <a:xfrm>
            <a:off x="189865" y="1464310"/>
            <a:ext cx="11430000" cy="49961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2950845" y="436880"/>
            <a:ext cx="6327140" cy="1062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/>
              <a:t>Web Architecture (Rest Based)</a:t>
            </a:r>
            <a:endParaRPr lang="en-US" sz="32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950845" y="436880"/>
            <a:ext cx="6327140" cy="1062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/>
              <a:t>Web Architecture (Rest Based)</a:t>
            </a:r>
            <a:endParaRPr lang="en-US" sz="3200" b="1"/>
          </a:p>
        </p:txBody>
      </p:sp>
      <p:pic>
        <p:nvPicPr>
          <p:cNvPr id="103" name="Content Placeholder 102"/>
          <p:cNvPicPr>
            <a:picLocks noChangeAspect="1"/>
          </p:cNvPicPr>
          <p:nvPr>
            <p:ph idx="1"/>
          </p:nvPr>
        </p:nvPicPr>
        <p:blipFill>
          <a:blip r:embed="rId1"/>
          <a:srcRect t="14374" r="9388" b="7735"/>
          <a:stretch>
            <a:fillRect/>
          </a:stretch>
        </p:blipFill>
        <p:spPr>
          <a:xfrm>
            <a:off x="1751965" y="1292860"/>
            <a:ext cx="7526020" cy="47383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s 3"/>
          <p:cNvSpPr/>
          <p:nvPr/>
        </p:nvSpPr>
        <p:spPr>
          <a:xfrm>
            <a:off x="7400290" y="4581525"/>
            <a:ext cx="1558925" cy="592455"/>
          </a:xfrm>
          <a:prstGeom prst="rect">
            <a:avLst/>
          </a:prstGeom>
          <a:solidFill>
            <a:srgbClr val="9BBB5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00290" y="4628515"/>
            <a:ext cx="1398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Rest Server (Backend)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Front-End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lvl="0" indent="0">
              <a:buNone/>
            </a:pPr>
            <a:r>
              <a:rPr lang="en-US"/>
              <a:t>1.1 HTML, CSS, and JavaScript</a:t>
            </a:r>
            <a:endParaRPr lang="en-US"/>
          </a:p>
          <a:p>
            <a:pPr lvl="1"/>
            <a:r>
              <a:rPr lang="en-US"/>
              <a:t>HTML (Hypertext Markup Language): Provides the structure and content of web pages.</a:t>
            </a:r>
            <a:endParaRPr lang="en-US"/>
          </a:p>
          <a:p>
            <a:pPr lvl="1"/>
            <a:r>
              <a:rPr lang="en-US"/>
              <a:t>CSS (Cascading Style Sheets): Defines the presentation and styling of HTML elements.</a:t>
            </a:r>
            <a:endParaRPr lang="en-US"/>
          </a:p>
          <a:p>
            <a:pPr lvl="1"/>
            <a:r>
              <a:rPr lang="en-US"/>
              <a:t>JavaScript: Adds interactivity, dynamic behavior, and manipulation of HTML and CSS</a:t>
            </a:r>
            <a:endParaRPr lang="en-US"/>
          </a:p>
          <a:p>
            <a:pPr marL="0" lvl="0" indent="0">
              <a:buNone/>
            </a:pPr>
            <a:r>
              <a:rPr lang="en-US"/>
              <a:t>1.2 Front-End Frameworks and Libraries</a:t>
            </a:r>
            <a:endParaRPr lang="en-US"/>
          </a:p>
          <a:p>
            <a:pPr lvl="1"/>
            <a:r>
              <a:rPr lang="en-US"/>
              <a:t>Frameworks like React, Angular, and Vue.js provide structured ways to build complex user interfaces.</a:t>
            </a:r>
            <a:endParaRPr lang="en-US"/>
          </a:p>
          <a:p>
            <a:pPr lvl="1"/>
            <a:r>
              <a:rPr lang="en-US"/>
              <a:t>Libraries such as jQuery offer utilities for DOM manipulation and AJAX requests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1. </a:t>
            </a:r>
            <a:r>
              <a:rPr lang="en-US">
                <a:sym typeface="+mn-ea"/>
              </a:rPr>
              <a:t>Front-End Components </a:t>
            </a:r>
            <a:r>
              <a:rPr lang="en-US"/>
              <a:t>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86415" cy="43516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2.1 Browser Rendering Engine</a:t>
            </a:r>
            <a:endParaRPr lang="en-US"/>
          </a:p>
          <a:p>
            <a:pPr lvl="1"/>
            <a:r>
              <a:rPr lang="en-US"/>
              <a:t>Plays a central role in the web browsing experience by parsing HTML, applying CSS styles, executing JavaScript, and ultimately rendering the final web page that users interact with in their browsers</a:t>
            </a:r>
            <a:endParaRPr lang="en-US"/>
          </a:p>
          <a:p>
            <a:pPr lvl="1"/>
            <a:r>
              <a:rPr lang="en-US"/>
              <a:t>example: </a:t>
            </a:r>
            <a:endParaRPr lang="en-US"/>
          </a:p>
          <a:p>
            <a:pPr lvl="2"/>
            <a:r>
              <a:rPr lang="en-US"/>
              <a:t>Blink - developed by Google -  used in Google Chrome , Microsoft Edge and Opera</a:t>
            </a:r>
            <a:endParaRPr lang="en-US"/>
          </a:p>
          <a:p>
            <a:pPr lvl="2"/>
            <a:r>
              <a:rPr lang="en-US"/>
              <a:t>WebKit - by Apple - used in Apple's Safari browser</a:t>
            </a:r>
            <a:endParaRPr lang="en-US"/>
          </a:p>
          <a:p>
            <a:pPr lvl="2"/>
            <a:r>
              <a:rPr lang="en-US"/>
              <a:t>Gecko - developed by Mozilla - used in the Firefox browser. Known for its standards compliance and rendering accuracy.</a:t>
            </a:r>
            <a:endParaRPr lang="en-US"/>
          </a:p>
          <a:p>
            <a:pPr lvl="2"/>
            <a:r>
              <a:rPr lang="en-US"/>
              <a:t>Trident (MSHTML) - by Microsoft - rendering engine used in older Internet Explorer browser</a:t>
            </a:r>
            <a:endParaRPr lang="en-US"/>
          </a:p>
          <a:p>
            <a:pPr lvl="2"/>
            <a:r>
              <a:rPr lang="en-US"/>
              <a:t>EdgeHTML - by Microsoft - originally used in Microsoft Edge browser (now replaced by Blink engine)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Back-End Components: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2.1 Server-Side Programming Languages</a:t>
            </a:r>
            <a:endParaRPr lang="en-US"/>
          </a:p>
          <a:p>
            <a:pPr lvl="1"/>
            <a:r>
              <a:rPr lang="en-US"/>
              <a:t>Example: JavaScript (Node.js), Python (Django, Flask), Ruby (Ruby on Rails), Java (Spring Boot), and PHP power the back-end logic.</a:t>
            </a:r>
            <a:endParaRPr lang="en-US"/>
          </a:p>
          <a:p>
            <a:pPr lvl="1"/>
            <a:r>
              <a:rPr lang="en-US"/>
              <a:t>They handle data processing, business logic, and interaction with databases</a:t>
            </a:r>
            <a:endParaRPr lang="en-US"/>
          </a:p>
          <a:p>
            <a:pPr marL="0" lvl="0" indent="0">
              <a:buNone/>
            </a:pPr>
            <a:r>
              <a:rPr lang="en-US"/>
              <a:t>2.2 Web Servers:</a:t>
            </a:r>
            <a:endParaRPr lang="en-US"/>
          </a:p>
          <a:p>
            <a:pPr lvl="1"/>
            <a:r>
              <a:rPr lang="en-US"/>
              <a:t>Software responsible for serving web content to clients.</a:t>
            </a:r>
            <a:endParaRPr lang="en-US"/>
          </a:p>
          <a:p>
            <a:pPr lvl="1"/>
            <a:r>
              <a:rPr lang="en-US"/>
              <a:t>Examples include Apache, Nginx, and Microsoft IIS.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2. Back-End Components (cont...)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lvl="0" indent="0">
              <a:buNone/>
            </a:pPr>
            <a:r>
              <a:rPr lang="en-US"/>
              <a:t>2.3 Databases</a:t>
            </a:r>
            <a:endParaRPr lang="en-US"/>
          </a:p>
          <a:p>
            <a:pPr lvl="1"/>
            <a:r>
              <a:rPr lang="en-US"/>
              <a:t>Store and manage application data.</a:t>
            </a:r>
            <a:endParaRPr lang="en-US"/>
          </a:p>
          <a:p>
            <a:pPr lvl="1"/>
            <a:r>
              <a:rPr lang="en-US"/>
              <a:t>example: relational databases (MySQL, PostgreSQL), NoSQL databases (MongoDB, Cassandra), and in-memory databases (Redis).</a:t>
            </a:r>
            <a:endParaRPr lang="en-US"/>
          </a:p>
          <a:p>
            <a:pPr marL="0" lvl="0" indent="0">
              <a:buNone/>
            </a:pPr>
            <a:r>
              <a:rPr lang="en-US"/>
              <a:t>2.4 Server-Side Frameworks and APIs:</a:t>
            </a:r>
            <a:endParaRPr lang="en-US"/>
          </a:p>
          <a:p>
            <a:pPr lvl="1"/>
            <a:r>
              <a:rPr lang="en-US"/>
              <a:t>Frameworks like Express.js (for Node.js), Django REST Framework (for Python), and Spring Boot (for Java) streamline back-end development.</a:t>
            </a:r>
            <a:endParaRPr lang="en-US"/>
          </a:p>
          <a:p>
            <a:pPr lvl="1"/>
            <a:r>
              <a:rPr lang="en-US"/>
              <a:t>RESTful APIs provide standardized ways for clients to interact with server resources.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045"/>
            <a:ext cx="10515600" cy="1325563"/>
          </a:xfrm>
        </p:spPr>
        <p:txBody>
          <a:bodyPr/>
          <a:p>
            <a:r>
              <a:rPr lang="en-US"/>
              <a:t>2.4 Web Services and APIs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410200"/>
          </a:xfrm>
        </p:spPr>
        <p:txBody>
          <a:bodyPr>
            <a:normAutofit fontScale="70000"/>
          </a:bodyPr>
          <a:p>
            <a:r>
              <a:rPr lang="en-US"/>
              <a:t>enable the communication and interaction between different software systems. </a:t>
            </a:r>
            <a:endParaRPr lang="en-US"/>
          </a:p>
          <a:p>
            <a:r>
              <a:rPr lang="en-US"/>
              <a:t>provide a standardized way for applications to exchange data and functionality</a:t>
            </a:r>
            <a:endParaRPr lang="en-US"/>
          </a:p>
          <a:p>
            <a:pPr marL="0" indent="0">
              <a:buNone/>
            </a:pPr>
            <a:r>
              <a:rPr lang="en-US" b="1"/>
              <a:t>Web Services: </a:t>
            </a:r>
            <a:r>
              <a:rPr lang="en-US"/>
              <a:t>software systems designed to support interoperable machine-to-machine interaction over a network. typically follow standards such as SOAP (Simple Object Access Protocol) or REST (Representational State Transfer) for communication.</a:t>
            </a:r>
            <a:endParaRPr lang="en-US"/>
          </a:p>
          <a:p>
            <a:pPr marL="0" indent="0">
              <a:buNone/>
            </a:pPr>
            <a:r>
              <a:rPr lang="en-US" b="1"/>
              <a:t>APIs: </a:t>
            </a:r>
            <a:r>
              <a:rPr lang="en-US"/>
              <a:t>define a set of rules and protocols that allow different software applications to communicate with each other. </a:t>
            </a:r>
            <a:endParaRPr lang="en-US"/>
          </a:p>
          <a:p>
            <a:pPr marL="0" indent="0">
              <a:buNone/>
            </a:pPr>
            <a:r>
              <a:rPr lang="en-US"/>
              <a:t>APIs can expose functionality or data from one application to another in a controlled and secure manner.</a:t>
            </a:r>
            <a:endParaRPr lang="en-US"/>
          </a:p>
          <a:p>
            <a:pPr marL="0" indent="0">
              <a:buNone/>
            </a:pPr>
            <a:r>
              <a:rPr lang="en-US" b="1"/>
              <a:t>RESTful APIs: </a:t>
            </a:r>
            <a:r>
              <a:rPr lang="en-US"/>
              <a:t>(Representational State Transfer) is an architectural style for designing networked applications. </a:t>
            </a:r>
            <a:endParaRPr lang="en-US"/>
          </a:p>
          <a:p>
            <a:pPr marL="0" indent="0">
              <a:buNone/>
            </a:pPr>
            <a:r>
              <a:rPr lang="en-US"/>
              <a:t>based on REST principles and use HTTP methods (GET, POST, PUT, DELETE) to perform CRUD (Create, Read, Update, Delete) operations on resources. </a:t>
            </a:r>
            <a:endParaRPr lang="en-US"/>
          </a:p>
          <a:p>
            <a:pPr marL="0" indent="0">
              <a:buNone/>
            </a:pPr>
            <a:r>
              <a:rPr lang="en-US"/>
              <a:t>They are commonly used in modern web development due to their simplicity and scalability.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3. Communication Protocols and Related Technologies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3.1 HTTP (Hypertext Transfer Protocol):</a:t>
            </a:r>
            <a:endParaRPr lang="en-US"/>
          </a:p>
          <a:p>
            <a:pPr lvl="1"/>
            <a:r>
              <a:rPr lang="en-US"/>
              <a:t>The foundation of data communication on the web.</a:t>
            </a:r>
            <a:endParaRPr lang="en-US"/>
          </a:p>
          <a:p>
            <a:pPr lvl="1"/>
            <a:r>
              <a:rPr lang="en-US"/>
              <a:t>Defines how messages are formatted and transmitted between clients and servers.</a:t>
            </a:r>
            <a:endParaRPr lang="en-US"/>
          </a:p>
          <a:p>
            <a:pPr marL="0" lvl="0" indent="0">
              <a:buNone/>
            </a:pPr>
            <a:r>
              <a:rPr lang="en-US"/>
              <a:t>3.2  JSON (JavaScript Object Notation) and XML (eXtensible Markup Language):</a:t>
            </a:r>
            <a:endParaRPr lang="en-US"/>
          </a:p>
          <a:p>
            <a:pPr lvl="1"/>
            <a:r>
              <a:rPr lang="en-US"/>
              <a:t>Common formats for representing structured data exchanged between clients and servers.</a:t>
            </a:r>
            <a:endParaRPr lang="en-US"/>
          </a:p>
          <a:p>
            <a:pPr lvl="1"/>
            <a:r>
              <a:rPr lang="en-US"/>
              <a:t>JSON is lightweight, easy to parse, and widely used in modern web applications.</a:t>
            </a:r>
            <a:endParaRPr lang="en-US"/>
          </a:p>
          <a:p>
            <a:pPr lvl="1"/>
            <a:r>
              <a:rPr lang="en-US"/>
              <a:t>XML is more verbose and used in certain legacy systems or specialized scenarios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3. Communication Protocols and Related Technologies (cont...)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lvl="0" indent="0">
              <a:buNone/>
            </a:pPr>
            <a:r>
              <a:rPr lang="en-US"/>
              <a:t>3.3 APIs (Application Programming Interfaces)</a:t>
            </a:r>
            <a:endParaRPr lang="en-US"/>
          </a:p>
          <a:p>
            <a:pPr lvl="1"/>
            <a:r>
              <a:rPr lang="en-US"/>
              <a:t>Define rules and protocols for how different software components can interact and exchange data.</a:t>
            </a:r>
            <a:endParaRPr lang="en-US"/>
          </a:p>
          <a:p>
            <a:pPr lvl="1"/>
            <a:r>
              <a:rPr lang="en-US"/>
              <a:t>RESTful APIs are commonly used in web applications, providing a stateless, uniform interface for accessing and manipulating resources</a:t>
            </a:r>
            <a:endParaRPr lang="en-US"/>
          </a:p>
          <a:p>
            <a:pPr marL="0" lvl="0" indent="0">
              <a:buNone/>
            </a:pPr>
            <a:endParaRPr lang="en-US"/>
          </a:p>
          <a:p>
            <a:pPr marL="0" lvl="0" indent="0">
              <a:buNone/>
            </a:pPr>
            <a:r>
              <a:rPr lang="en-US"/>
              <a:t>3.4 AJAX (Asynchronous JavaScript and XML):</a:t>
            </a:r>
            <a:endParaRPr lang="en-US"/>
          </a:p>
          <a:p>
            <a:pPr lvl="1"/>
            <a:r>
              <a:rPr lang="en-US"/>
              <a:t>Enables asynchronous communication between the browser and server without refreshing the entire page.</a:t>
            </a:r>
            <a:endParaRPr lang="en-US"/>
          </a:p>
          <a:p>
            <a:pPr lvl="1"/>
            <a:r>
              <a:rPr lang="en-US"/>
              <a:t>Utilizes the XMLHttpRequest (XHR) object or fetch API to make HTTP requests.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Content Placeholder 9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0160" y="1048385"/>
            <a:ext cx="9176385" cy="449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2962910" y="56102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How Asynchronous Wab Application work using XHR, AJAX or Fetch API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3.4. The evolution of asynchronous communication (from XmlHttpRequest, Ajax, .... </a:t>
            </a:r>
            <a:r>
              <a:rPr lang="en-US" sz="3200">
                <a:sym typeface="+mn-ea"/>
              </a:rPr>
              <a:t>to WebSocket</a:t>
            </a:r>
            <a:r>
              <a:rPr lang="en-US" sz="3200"/>
              <a:t>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3.4.1 XmlHttpRequest</a:t>
            </a:r>
            <a:endParaRPr lang="en-US"/>
          </a:p>
          <a:p>
            <a:pPr lvl="1"/>
            <a:r>
              <a:rPr lang="en-US"/>
              <a:t>Introduced by Microsoft in Internet Explorer 5, allowed JavaScript to make asynchronous HTTP requests to the server without reloading the entire page</a:t>
            </a:r>
            <a:endParaRPr lang="en-US"/>
          </a:p>
          <a:p>
            <a:pPr lvl="1"/>
            <a:r>
              <a:rPr lang="en-US"/>
              <a:t>Became the foundation for AJAX  - a technique that revolutionized web development</a:t>
            </a:r>
            <a:endParaRPr lang="en-US"/>
          </a:p>
          <a:p>
            <a:pPr lvl="1"/>
            <a:r>
              <a:rPr lang="en-US"/>
              <a:t>Developers started using XHR to fetch XML, HTML, JSON, or any other data from the server asynchronously</a:t>
            </a:r>
            <a:endParaRPr lang="en-US"/>
          </a:p>
          <a:p>
            <a:pPr marL="0" lvl="0" indent="0">
              <a:buNone/>
            </a:pPr>
            <a:r>
              <a:rPr lang="en-US"/>
              <a:t>3.4.2 jQuery AJAX</a:t>
            </a:r>
            <a:endParaRPr lang="en-US"/>
          </a:p>
          <a:p>
            <a:pPr lvl="1"/>
            <a:r>
              <a:rPr lang="en-US"/>
              <a:t>a popular JavaScript library, abstracted away the complexity of XHR, providing a simplified interface for making asynchronous requests</a:t>
            </a:r>
            <a:endParaRPr lang="en-US"/>
          </a:p>
          <a:p>
            <a:pPr lvl="1"/>
            <a:r>
              <a:rPr lang="en-US"/>
              <a:t>allowed developers to perform common AJAX operations with fewer lines of code and better cross-browser compatibility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3.4. The evolution of asynchronous communication (from XmlHttpRequest, Ajax, .... </a:t>
            </a:r>
            <a:r>
              <a:rPr lang="en-US" sz="3200">
                <a:sym typeface="+mn-ea"/>
              </a:rPr>
              <a:t>to WebSocket</a:t>
            </a:r>
            <a:r>
              <a:rPr lang="en-US" sz="3200"/>
              <a:t>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3.4.3 Fetch API</a:t>
            </a:r>
            <a:endParaRPr lang="en-US"/>
          </a:p>
          <a:p>
            <a:pPr lvl="1"/>
            <a:r>
              <a:rPr lang="en-US"/>
              <a:t>introduced as part of the ECMAScript 6 (ES6) standard, provides a modern, promise-based interface for making HTTP requests in the browser</a:t>
            </a:r>
            <a:endParaRPr lang="en-US"/>
          </a:p>
          <a:p>
            <a:pPr lvl="1"/>
            <a:r>
              <a:rPr lang="en-US"/>
              <a:t>offers a more flexible and powerful alternative to XHR, supporting features like streaming responses and a simpler syntax for handling requests and responses</a:t>
            </a:r>
            <a:endParaRPr lang="en-US"/>
          </a:p>
          <a:p>
            <a:pPr lvl="1"/>
            <a:r>
              <a:rPr lang="en-US"/>
              <a:t>easier to work with asynchronous code and handle complex scenarios like chaining multiple requests</a:t>
            </a:r>
            <a:endParaRPr lang="en-US"/>
          </a:p>
          <a:p>
            <a:pPr marL="0" lvl="0" indent="0">
              <a:buNone/>
            </a:pPr>
            <a:r>
              <a:rPr lang="en-US"/>
              <a:t>3.4.2 Async/Await</a:t>
            </a:r>
            <a:endParaRPr lang="en-US"/>
          </a:p>
          <a:p>
            <a:pPr lvl="1"/>
            <a:r>
              <a:rPr lang="en-US"/>
              <a:t>introduced in ES8 that simplifies asynchronous programming in JavaScript</a:t>
            </a:r>
            <a:endParaRPr lang="en-US"/>
          </a:p>
          <a:p>
            <a:pPr lvl="1"/>
            <a:r>
              <a:rPr lang="en-US"/>
              <a:t>using the </a:t>
            </a:r>
            <a:r>
              <a:rPr lang="en-US" b="1"/>
              <a:t>async </a:t>
            </a:r>
            <a:r>
              <a:rPr lang="en-US"/>
              <a:t>and </a:t>
            </a:r>
            <a:r>
              <a:rPr lang="en-US" b="1"/>
              <a:t>await </a:t>
            </a:r>
            <a:r>
              <a:rPr lang="en-US"/>
              <a:t>keywords, developers can write asynchronous code in a synchronous style, making it more readable and easier to reason about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3.4. The evolution of asynchronous communication (from XmlHttpRequest, Ajax, .... to WebSocket)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3.4.4 WebSockets</a:t>
            </a:r>
            <a:endParaRPr lang="en-US"/>
          </a:p>
          <a:p>
            <a:pPr lvl="1"/>
            <a:r>
              <a:rPr lang="en-US"/>
              <a:t>While not strictly asynchronous communication over HTTP, WebSockets represent another significant evolution in web app communication</a:t>
            </a:r>
            <a:endParaRPr lang="en-US"/>
          </a:p>
          <a:p>
            <a:pPr lvl="1"/>
            <a:r>
              <a:rPr lang="en-US"/>
              <a:t>provide full-duplex communication channels over a single, long-lived TCP connection, enabling real-time, bidirectional communication between the client and server</a:t>
            </a:r>
            <a:endParaRPr lang="en-US"/>
          </a:p>
          <a:p>
            <a:pPr lvl="1"/>
            <a:r>
              <a:rPr lang="en-US"/>
              <a:t>allow servers to initiate communication with clients, making them ideal for applications requiring low-latency, real-time updates, such as chat apps, online gaming, and live data feeds</a:t>
            </a:r>
            <a:endParaRPr lang="en-US"/>
          </a:p>
          <a:p>
            <a:pPr marL="0" lv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/>
              <a:t>The structural design of web applications involves front-end components (HTML, CSS, JavaScript), back-end components (server-side programming languages, databases, frameworks), and communication protocols/technologies (HTTP, AJAX, WebSockets, JSON/XML, APIs). </a:t>
            </a:r>
            <a:endParaRPr lang="en-US" sz="2400"/>
          </a:p>
          <a:p>
            <a:r>
              <a:rPr lang="en-US" sz="2400"/>
              <a:t>These elements work together to create interactive, dynamic, and responsive web experiences, with data flowing seamlessly between the client and server.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7159</Words>
  <Application>WPS Presentation</Application>
  <PresentationFormat>Widescreen</PresentationFormat>
  <Paragraphs>124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Gear Drives</vt:lpstr>
      <vt:lpstr>Web Technology SCSJ 3483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Back-End Components:</vt:lpstr>
      <vt:lpstr>PowerPoint 演示文稿</vt:lpstr>
      <vt:lpstr>PowerPoint 演示文稿</vt:lpstr>
      <vt:lpstr>3. Communication Protocols and Related Technologies</vt:lpstr>
      <vt:lpstr>PowerPoint 演示文稿</vt:lpstr>
      <vt:lpstr>PowerPoint 演示文稿</vt:lpstr>
      <vt:lpstr>3.2. The evolution of asynchronous communication (from XmlHttpRequest, Ajax, .... SSE)</vt:lpstr>
      <vt:lpstr>3.2. The evolution of asynchronous communication (from XmlHttpRequest, Ajax, .... SSE)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SECJ 3483 Web Technology</dc:title>
  <dc:creator/>
  <cp:lastModifiedBy>google1596523062</cp:lastModifiedBy>
  <cp:revision>2</cp:revision>
  <dcterms:created xsi:type="dcterms:W3CDTF">2024-03-22T09:06:41Z</dcterms:created>
  <dcterms:modified xsi:type="dcterms:W3CDTF">2024-03-22T09:09:44Z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E89174335CA048D1B3E8ECEF973E7332_11</vt:lpwstr>
  </property>
  <property fmtid="{D5CDD505-2E9C-101B-9397-08002B2CF9AE}" pid="3" name="KSOProductBuildVer">
    <vt:lpwstr>1033-12.2.0.13489</vt:lpwstr>
  </property>
</Properties>
</file>